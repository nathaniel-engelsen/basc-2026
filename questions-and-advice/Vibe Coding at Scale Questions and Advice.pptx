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01" r:id="rId16"/>
  </p:sldIdLst>
  <p:sldSz cx="12192000" cy="6858000"/>
  <p:notesSz cx="6858000" cy="9144000"/>
  <p:embeddedFontLst>
    <p:embeddedFont>
      <p:font typeface="Barlow Medium" panose="00000600000000000000" pitchFamily="2" charset="0"/>
      <p:regular r:id="rId19"/>
      <p:bold r:id="rId20"/>
      <p:italic r:id="rId21"/>
      <p:boldItalic r:id="rId22"/>
    </p:embeddedFont>
    <p:embeddedFont>
      <p:font typeface="Barlow SemiBold" panose="00000700000000000000" pitchFamily="2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">
          <p15:clr>
            <a:srgbClr val="747775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UBvs4DH3pg6lknXUuMqw5jEvt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636574-CAD3-4183-A12C-5779FABF7D00}">
  <a:tblStyle styleId="{40636574-CAD3-4183-A12C-5779FABF7D0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7" y="372"/>
      </p:cViewPr>
      <p:guideLst>
        <p:guide orient="horz" pos="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9" Type="http://schemas.openxmlformats.org/officeDocument/2006/relationships/viewProps" Target="view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48E38F-5FF3-C8D0-6B30-0998F61243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4A6C62-1FF5-3C85-4DDA-DE539EECE9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297F01-2FD5-4A4B-988F-82C8531516D5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91B047-8E9A-03AC-BA82-2C51849C5E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050DE-1012-212D-AEF1-40A03540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82B19-4FF8-44EE-A3CB-B2F9AAF2A4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61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be402a3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g3cbe402a38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g3cbe402a38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be402a38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3cbe402a38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g3cbe402a380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be402a38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cbe402a380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08" name="Google Shape;108;g3cbe402a380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e402a380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cbe402a380_0_1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g3cbe402a380_0_1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be402a380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cbe402a380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cbe402a380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be402a380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3cbe402a380_0_3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g3cbe402a380_0_3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be402a380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be402a380_0_4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3cbe402a380_0_4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be402a380_0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cbe402a380_0_4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3cbe402a380_0_4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14c07a3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3da14c07a3f_1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da14c07a3f_1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4493b0b0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g3d4493b0b0e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g3d4493b0b0e_0_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50e3c572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g3c50e3c572f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g3c50e3c572f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50e3c572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c50e3c572f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c50e3c572f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dfa80280b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cdfa80280b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3cdfa80280b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dcd87346b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dcd87346bc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sources </a:t>
            </a:r>
            <a:endParaRPr/>
          </a:p>
        </p:txBody>
      </p:sp>
      <p:sp>
        <p:nvSpPr>
          <p:cNvPr id="418" name="Google Shape;418;g3dcd87346bc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arlow Medium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be402a380_0_1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cbe402a380_0_1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g3cbe402a380_0_19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arlow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>
  <p:cSld name="OBJECT 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bad72f273_0_229"/>
          <p:cNvSpPr txBox="1">
            <a:spLocks noGrp="1"/>
          </p:cNvSpPr>
          <p:nvPr>
            <p:ph type="title"/>
          </p:nvPr>
        </p:nvSpPr>
        <p:spPr>
          <a:xfrm>
            <a:off x="838200" y="21603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abad72f273_0_2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marL="1371600" lvl="2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marL="1828800" lvl="3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marL="2286000" lvl="4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g3abad72f273_0_229"/>
          <p:cNvSpPr txBox="1">
            <a:spLocks noGrp="1"/>
          </p:cNvSpPr>
          <p:nvPr>
            <p:ph type="sldNum" idx="12"/>
          </p:nvPr>
        </p:nvSpPr>
        <p:spPr>
          <a:xfrm>
            <a:off x="11095216" y="64147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Barlow Medium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Barlow Medium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rlow Medium"/>
              <a:buNone/>
              <a:defRPr sz="4400" b="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" name="Google Shape;14;p11"/>
          <p:cNvPicPr preferRelativeResize="0"/>
          <p:nvPr/>
        </p:nvPicPr>
        <p:blipFill rotWithShape="1"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8945" y="-270163"/>
            <a:ext cx="1489364" cy="148936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agent.md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562783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g3cbe402a380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25675" y="1715862"/>
            <a:ext cx="3426300" cy="342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g3cbe402a380_0_0"/>
          <p:cNvSpPr txBox="1"/>
          <p:nvPr/>
        </p:nvSpPr>
        <p:spPr>
          <a:xfrm>
            <a:off x="64975" y="5312225"/>
            <a:ext cx="5747700" cy="111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Nathaniel Engelsen, CISSP, MBA</a:t>
            </a:r>
            <a:endParaRPr sz="2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SVP Technology, Augeo</a:t>
            </a:r>
            <a:endParaRPr sz="2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g3cbe402a380_0_0"/>
          <p:cNvSpPr txBox="1"/>
          <p:nvPr/>
        </p:nvSpPr>
        <p:spPr>
          <a:xfrm>
            <a:off x="6068525" y="5312225"/>
            <a:ext cx="6030600" cy="1110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Clea Ostendorf, CISSP</a:t>
            </a:r>
            <a:endParaRPr sz="2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CEO/CoFounder Wolfpack Security</a:t>
            </a:r>
            <a:endParaRPr sz="26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7" name="Google Shape;97;g3cbe402a380_0_0" title="ChatGPT Image Mar 6, 2026, 12_25_15 PM.png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14675" y="1621950"/>
            <a:ext cx="3338276" cy="361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be402a380_0_26"/>
          <p:cNvSpPr txBox="1">
            <a:spLocks noGrp="1"/>
          </p:cNvSpPr>
          <p:nvPr>
            <p:ph type="title"/>
          </p:nvPr>
        </p:nvSpPr>
        <p:spPr>
          <a:xfrm>
            <a:off x="574300" y="1100500"/>
            <a:ext cx="5312100" cy="132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What is vibe coding?</a:t>
            </a:r>
            <a:endParaRPr/>
          </a:p>
        </p:txBody>
      </p:sp>
      <p:sp>
        <p:nvSpPr>
          <p:cNvPr id="104" name="Google Shape;104;g3cbe402a380_0_26"/>
          <p:cNvSpPr txBox="1">
            <a:spLocks noGrp="1"/>
          </p:cNvSpPr>
          <p:nvPr>
            <p:ph type="body" idx="1"/>
          </p:nvPr>
        </p:nvSpPr>
        <p:spPr>
          <a:xfrm>
            <a:off x="1251850" y="2674700"/>
            <a:ext cx="10515600" cy="249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0A0A0A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"Vibe coding"—the practice of rapidly developing software through natural language prompts and AI agents without manually writing or reviewing most of the code—introduces a unique set of security risks. Because the focus is on "making it work" rather than rigorous engineering, security is often bypassed entirely</a:t>
            </a:r>
            <a:endParaRPr sz="4400">
              <a:solidFill>
                <a:schemeClr val="accent5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be402a380_0_14"/>
          <p:cNvSpPr txBox="1">
            <a:spLocks noGrp="1"/>
          </p:cNvSpPr>
          <p:nvPr>
            <p:ph type="title"/>
          </p:nvPr>
        </p:nvSpPr>
        <p:spPr>
          <a:xfrm>
            <a:off x="466575" y="2975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Where the Risk lies - 3 Risk Pillars</a:t>
            </a:r>
            <a:endParaRPr dirty="0"/>
          </a:p>
        </p:txBody>
      </p:sp>
      <p:sp>
        <p:nvSpPr>
          <p:cNvPr id="111" name="Google Shape;111;g3cbe402a380_0_14"/>
          <p:cNvSpPr txBox="1">
            <a:spLocks noGrp="1"/>
          </p:cNvSpPr>
          <p:nvPr>
            <p:ph type="body" idx="1"/>
          </p:nvPr>
        </p:nvSpPr>
        <p:spPr>
          <a:xfrm>
            <a:off x="608100" y="1448875"/>
            <a:ext cx="107457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381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300"/>
              <a:buAutoNum type="arabicPeriod"/>
            </a:pPr>
            <a:r>
              <a:rPr lang="en-US" sz="3300" b="1" dirty="0">
                <a:latin typeface="Arial"/>
                <a:ea typeface="Arial"/>
                <a:cs typeface="Arial"/>
                <a:sym typeface="Arial"/>
              </a:rPr>
              <a:t>Critical Vulnerabilities - </a:t>
            </a:r>
            <a:r>
              <a:rPr lang="en-US" sz="3300" dirty="0">
                <a:latin typeface="Arial"/>
                <a:ea typeface="Arial"/>
                <a:cs typeface="Arial"/>
                <a:sym typeface="Arial"/>
              </a:rPr>
              <a:t>Immediate, exploitable holes</a:t>
            </a:r>
            <a:endParaRPr sz="3300" dirty="0">
              <a:latin typeface="Arial"/>
              <a:ea typeface="Arial"/>
              <a:cs typeface="Arial"/>
              <a:sym typeface="Arial"/>
            </a:endParaRPr>
          </a:p>
          <a:p>
            <a:pPr marL="971550" lvl="0" indent="-51435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endParaRPr sz="3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3300"/>
              <a:buAutoNum type="arabicPeriod"/>
            </a:pPr>
            <a:r>
              <a:rPr lang="en-US" sz="3300" b="1" dirty="0">
                <a:latin typeface="Arial"/>
                <a:ea typeface="Arial"/>
                <a:cs typeface="Arial"/>
                <a:sym typeface="Arial"/>
              </a:rPr>
              <a:t>Tech Debt - </a:t>
            </a:r>
            <a:r>
              <a:rPr lang="en-US" sz="3300" dirty="0">
                <a:latin typeface="Arial"/>
                <a:ea typeface="Arial"/>
                <a:cs typeface="Arial"/>
                <a:sym typeface="Arial"/>
              </a:rPr>
              <a:t>The long-term "maintenance tax" of unoptimized, bloated, or "black box" logic.</a:t>
            </a:r>
            <a:endParaRPr sz="3300" dirty="0">
              <a:latin typeface="Arial"/>
              <a:ea typeface="Arial"/>
              <a:cs typeface="Arial"/>
              <a:sym typeface="Arial"/>
            </a:endParaRPr>
          </a:p>
          <a:p>
            <a:pPr marL="971550" lvl="0" indent="-51435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1800"/>
              <a:buFont typeface="+mj-lt"/>
              <a:buAutoNum type="arabicPeriod"/>
            </a:pPr>
            <a:endParaRPr sz="3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438150" algn="l" rtl="0">
              <a:lnSpc>
                <a:spcPct val="95000"/>
              </a:lnSpc>
              <a:spcBef>
                <a:spcPts val="1800"/>
              </a:spcBef>
              <a:spcAft>
                <a:spcPts val="0"/>
              </a:spcAft>
              <a:buSzPts val="3300"/>
              <a:buAutoNum type="arabicPeriod"/>
            </a:pPr>
            <a:r>
              <a:rPr lang="en-US" sz="3300" b="1" dirty="0">
                <a:latin typeface="Arial"/>
                <a:ea typeface="Arial"/>
                <a:cs typeface="Arial"/>
                <a:sym typeface="Arial"/>
              </a:rPr>
              <a:t>Governance/Compliance - </a:t>
            </a:r>
            <a:r>
              <a:rPr lang="en-US" sz="3300" dirty="0">
                <a:latin typeface="Arial"/>
                <a:ea typeface="Arial"/>
                <a:cs typeface="Arial"/>
                <a:sym typeface="Arial"/>
              </a:rPr>
              <a:t>The erosion of traceability and the "Right to Explain."</a:t>
            </a:r>
            <a:endParaRPr sz="3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be402a380_0_1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Questions to ask your team</a:t>
            </a:r>
            <a:endParaRPr/>
          </a:p>
        </p:txBody>
      </p:sp>
      <p:sp>
        <p:nvSpPr>
          <p:cNvPr id="118" name="Google Shape;118;g3cbe402a380_0_120"/>
          <p:cNvSpPr txBox="1">
            <a:spLocks noGrp="1"/>
          </p:cNvSpPr>
          <p:nvPr>
            <p:ph type="body" idx="1"/>
          </p:nvPr>
        </p:nvSpPr>
        <p:spPr>
          <a:xfrm>
            <a:off x="838200" y="1690825"/>
            <a:ext cx="10515600" cy="46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3000" b="1">
                <a:latin typeface="Arial"/>
                <a:ea typeface="Arial"/>
                <a:cs typeface="Arial"/>
                <a:sym typeface="Arial"/>
              </a:rPr>
              <a:t>Build Ft. Knox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: Make sure your app is safe and secure and avoid the Happy Path Trap</a:t>
            </a:r>
            <a:endParaRPr sz="3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Are we making authorization decisions in the right policy decision point, or did we leave too much up to the client?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Is our authorization logic 'Decentralized AI-Gen' or 'Policy-as-Code'? If we changed a user role today, how many lines of code would we have to manually audit?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AutoNum type="arabicPeriod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How do we programmatically ensure that data ownership is validated for every single object request, and do we have automated tests that attempt 'ID swapping'?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be402a380_0_9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Questions to ask your team</a:t>
            </a:r>
            <a:endParaRPr/>
          </a:p>
        </p:txBody>
      </p:sp>
      <p:sp>
        <p:nvSpPr>
          <p:cNvPr id="125" name="Google Shape;125;g3cbe402a380_0_90"/>
          <p:cNvSpPr txBox="1">
            <a:spLocks noGrp="1"/>
          </p:cNvSpPr>
          <p:nvPr>
            <p:ph type="body" idx="1"/>
          </p:nvPr>
        </p:nvSpPr>
        <p:spPr>
          <a:xfrm>
            <a:off x="838200" y="1678668"/>
            <a:ext cx="10515600" cy="14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latin typeface="Arial"/>
                <a:ea typeface="Arial"/>
                <a:cs typeface="Arial"/>
                <a:sym typeface="Arial"/>
              </a:rPr>
              <a:t>Implement "Secret Scanning":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Most platforms have tools that scan code for secrets </a:t>
            </a:r>
            <a:r>
              <a:rPr lang="en-US" sz="3000" i="1"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they get published.</a:t>
            </a:r>
            <a:endParaRPr sz="30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000"/>
          </a:p>
        </p:txBody>
      </p:sp>
      <p:sp>
        <p:nvSpPr>
          <p:cNvPr id="126" name="Google Shape;126;g3cbe402a380_0_90"/>
          <p:cNvSpPr txBox="1"/>
          <p:nvPr/>
        </p:nvSpPr>
        <p:spPr>
          <a:xfrm>
            <a:off x="793900" y="3130068"/>
            <a:ext cx="10515600" cy="3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5599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72"/>
              <a:buFont typeface="Arial"/>
              <a:buAutoNum type="arabicPeriod"/>
            </a:pPr>
            <a:r>
              <a:rPr lang="en-US" sz="247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"Do we have a secret scanner? (e.g., TruffleHog or GitHub Secret Scanning)"</a:t>
            </a:r>
            <a:endParaRPr sz="247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5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72"/>
              <a:buFont typeface="Arial"/>
              <a:buAutoNum type="arabicPeriod"/>
            </a:pPr>
            <a:r>
              <a:rPr lang="en-US" sz="247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"When was the last time we 'rotated' our master keys?"</a:t>
            </a:r>
            <a:endParaRPr sz="247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5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72"/>
              <a:buFont typeface="Arial"/>
              <a:buAutoNum type="arabicPeriod"/>
            </a:pPr>
            <a:r>
              <a:rPr lang="en-US" sz="2472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"If a developer puts a password in an AI prompt, where does that password go?" (The answer is often: into the code).</a:t>
            </a:r>
            <a:endParaRPr sz="25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be402a380_0_381"/>
          <p:cNvSpPr txBox="1">
            <a:spLocks noGrp="1"/>
          </p:cNvSpPr>
          <p:nvPr>
            <p:ph type="title"/>
          </p:nvPr>
        </p:nvSpPr>
        <p:spPr>
          <a:xfrm>
            <a:off x="467000" y="3558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The "70/20/10" Budgeting Model</a:t>
            </a:r>
            <a:endParaRPr/>
          </a:p>
        </p:txBody>
      </p:sp>
      <p:sp>
        <p:nvSpPr>
          <p:cNvPr id="133" name="Google Shape;133;g3cbe402a380_0_381"/>
          <p:cNvSpPr txBox="1">
            <a:spLocks noGrp="1"/>
          </p:cNvSpPr>
          <p:nvPr>
            <p:ph type="body" idx="1"/>
          </p:nvPr>
        </p:nvSpPr>
        <p:spPr>
          <a:xfrm>
            <a:off x="587625" y="1825625"/>
            <a:ext cx="5574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70% of time on new features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 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20% on "Paying the Debt" (Refactoring)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10% on Innovation/Training.</a:t>
            </a:r>
            <a:endParaRPr sz="2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" name="Google Shape;140;g3cbe402a380_0_472"/>
          <p:cNvGraphicFramePr/>
          <p:nvPr/>
        </p:nvGraphicFramePr>
        <p:xfrm>
          <a:off x="895350" y="1212625"/>
          <a:ext cx="10401300" cy="4432725"/>
        </p:xfrm>
        <a:graphic>
          <a:graphicData uri="http://schemas.openxmlformats.org/drawingml/2006/table">
            <a:tbl>
              <a:tblPr>
                <a:noFill/>
                <a:tableStyleId>{40636574-CAD3-4183-A12C-5779FABF7D00}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Company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Guardrail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Business Lesson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81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Standardized Parts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Limit the AI’s "creativity" to pre-approved blocks.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Rigorous Review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Measure "Code Quality" as strictly as "Delivery Speed."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The Paved Road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Automate the "Security &amp; Debt" checks so they can't be skipped.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1" name="Google Shape;141;g3cbe402a380_0_472" descr="File:LinkedIn 2021.svg - Wikipedia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3450" y="3191925"/>
            <a:ext cx="3186499" cy="79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cbe402a380_0_472" descr="File:Netflix 2015 logo.svg - Wikipedia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262" y="4634675"/>
            <a:ext cx="3102874" cy="8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cbe402a380_0_472"/>
          <p:cNvPicPr preferRelativeResize="0"/>
          <p:nvPr/>
        </p:nvPicPr>
        <p:blipFill rotWithShape="1"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5250" y="1931225"/>
            <a:ext cx="2310950" cy="99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be402a380_0_447"/>
          <p:cNvSpPr txBox="1">
            <a:spLocks noGrp="1"/>
          </p:cNvSpPr>
          <p:nvPr>
            <p:ph type="title"/>
          </p:nvPr>
        </p:nvSpPr>
        <p:spPr>
          <a:xfrm>
            <a:off x="617675" y="3751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Tools (Smoke Detectors)</a:t>
            </a:r>
            <a:endParaRPr/>
          </a:p>
        </p:txBody>
      </p:sp>
      <p:sp>
        <p:nvSpPr>
          <p:cNvPr id="150" name="Google Shape;150;g3cbe402a380_0_4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graphicFrame>
        <p:nvGraphicFramePr>
          <p:cNvPr id="151" name="Google Shape;151;g3cbe402a380_0_447"/>
          <p:cNvGraphicFramePr/>
          <p:nvPr/>
        </p:nvGraphicFramePr>
        <p:xfrm>
          <a:off x="133275" y="1967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{40636574-CAD3-4183-A12C-5779FABF7D00}</a:tableStyleId>
              </a:tblPr>
              <a:tblGrid>
                <a:gridCol w="28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7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Tool type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Why it matters for Vibe Coding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Static Analysis Tools (e.g., SonarQube)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Scans for "smelly" or messy code.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AI is great at making code that works but stinks. This catches the smell.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Dependency Scanners</a:t>
                      </a:r>
                      <a:endParaRPr sz="2100" u="none" strike="noStrike" cap="none"/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(e.g., Snyk)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Checks if our libraries are old or broken.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Catches "hallucinated" / poisoned packages. AKA secures our “software supply chain”.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6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Complexity Metrics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Measures how "tangled" the logic is.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If a piece of code is too tangled for a human to understand, how can we ensure it has integrity?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a14c07a3f_1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Questions to ask your team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da14c07a3f_1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latin typeface="Arial"/>
                <a:ea typeface="Arial"/>
                <a:cs typeface="Arial"/>
                <a:sym typeface="Arial"/>
              </a:rPr>
              <a:t>Maintenance Sprints: 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Intentionally pay down Tech Debt with focused effort and investment.</a:t>
            </a:r>
            <a:endParaRPr sz="3000"/>
          </a:p>
        </p:txBody>
      </p:sp>
      <p:sp>
        <p:nvSpPr>
          <p:cNvPr id="159" name="Google Shape;159;g3da14c07a3f_1_6"/>
          <p:cNvSpPr txBox="1"/>
          <p:nvPr/>
        </p:nvSpPr>
        <p:spPr>
          <a:xfrm>
            <a:off x="760125" y="3411675"/>
            <a:ext cx="11047200" cy="31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3846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"How do we know if technical debt is getting worse?”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“Who is responsible for reviewing AI code and/or approving AI-created code to go to production?”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“How are we catching the smells / easy things?”</a:t>
            </a:r>
            <a:endParaRPr sz="24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4493b0b0e_0_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Questions to ask your team</a:t>
            </a:r>
            <a:endParaRPr/>
          </a:p>
        </p:txBody>
      </p:sp>
      <p:sp>
        <p:nvSpPr>
          <p:cNvPr id="166" name="Google Shape;166;g3d4493b0b0e_0_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11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latin typeface="Arial"/>
                <a:ea typeface="Arial"/>
                <a:cs typeface="Arial"/>
                <a:sym typeface="Arial"/>
              </a:rPr>
              <a:t>Human In The Loop:</a:t>
            </a:r>
            <a:r>
              <a:rPr lang="en-US" sz="3000">
                <a:latin typeface="Arial"/>
                <a:ea typeface="Arial"/>
                <a:cs typeface="Arial"/>
                <a:sym typeface="Arial"/>
              </a:rPr>
              <a:t> Make sure you know who did what - and why.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d4493b0b0e_0_5"/>
          <p:cNvSpPr txBox="1"/>
          <p:nvPr/>
        </p:nvSpPr>
        <p:spPr>
          <a:xfrm>
            <a:off x="760125" y="3411675"/>
            <a:ext cx="11047200" cy="31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38461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Who owns this code, why did we create it, and how did it get into production? 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 we tell why we made this decision and is it defensible? Are we in breach of any legal obligations with the way we made a decision?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81000" algn="l" rtl="0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Have the packages and libraries in this code been vetted by a risk process or an architect?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" name="Google Shape;173;g3c50e3c572f_0_37"/>
          <p:cNvGraphicFramePr/>
          <p:nvPr/>
        </p:nvGraphicFramePr>
        <p:xfrm>
          <a:off x="543900" y="866875"/>
          <a:ext cx="11104200" cy="5124250"/>
        </p:xfrm>
        <a:graphic>
          <a:graphicData uri="http://schemas.openxmlformats.org/drawingml/2006/table">
            <a:tbl>
              <a:tblPr>
                <a:noFill/>
                <a:tableStyleId>{40636574-CAD3-4183-A12C-5779FABF7D00}</a:tableStyleId>
              </a:tblPr>
              <a:tblGrid>
                <a:gridCol w="2228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3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Control Area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Vibe Coding Risk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>
                          <a:solidFill>
                            <a:srgbClr val="FFFFFF"/>
                          </a:solidFill>
                        </a:rPr>
                        <a:t>The "Fix"</a:t>
                      </a:r>
                      <a:endParaRPr sz="21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581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1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/>
                        <a:t>Change Mgmt</a:t>
                      </a:r>
                      <a:endParaRPr sz="2100" b="1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Documented approvals for all code.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"Ghost Approvals" - AI writes, no one reads.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Human Peer Review for all AI code.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7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/>
                        <a:t>Data Privacy</a:t>
                      </a:r>
                      <a:endParaRPr sz="2100" b="1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No PII in AI training sets.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"Context Leaks" - Pasting data into prompts.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Enterprise-grade AI with "Zero-Retention" data privacy.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1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b="1" u="none" strike="noStrike" cap="none"/>
                        <a:t>IP Protection</a:t>
                      </a:r>
                      <a:endParaRPr sz="2100" b="1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No unlicensed code in our product.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"Copyright Contamination" - AI copies GPL code.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Automated License Scanning on every build.</a:t>
                      </a:r>
                      <a:endParaRPr sz="21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50e3c572f_0_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Barlow SemiBold"/>
                <a:ea typeface="Barlow SemiBold"/>
                <a:cs typeface="Barlow SemiBold"/>
                <a:sym typeface="Barlow SemiBold"/>
              </a:rPr>
              <a:t>Vibe Security - Requirements &amp; Planning</a:t>
            </a:r>
            <a:endParaRPr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80" name="Google Shape;180;g3c50e3c572f_0_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AutoNum type="arabicPeriod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Prompt for Success - Built sophisticated prompts with coding standards and security requirements informed by open source projects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AutoNum type="arabicPeriod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Add </a:t>
            </a:r>
            <a:r>
              <a:rPr lang="en-US" sz="2500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Vinters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* to Agents - Add quality and security sub-agents to agent teams checking for smells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AutoNum type="arabicPeriod"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Skills to Pay the Bills - Incorporate skills from our vibe coding tool’s marketplace or open source projects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* vibe + linter = “vinter” (Nathaniel wants this to be popular, tell your friends) 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endParaRPr sz="2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dfa80280b_0_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Barlow SemiBold"/>
                <a:ea typeface="Barlow SemiBold"/>
                <a:cs typeface="Barlow SemiBold"/>
                <a:sym typeface="Barlow SemiBold"/>
              </a:rPr>
              <a:t>Vibe Security - Deployment &amp; Operations</a:t>
            </a:r>
            <a:endParaRPr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187" name="Google Shape;187;g3cdfa80280b_0_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AutoNum type="arabicPeriod"/>
            </a:pPr>
            <a:r>
              <a:rPr lang="en-US" sz="2500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Stop the Leak: Deploy </a:t>
            </a:r>
            <a:r>
              <a:rPr lang="en-US" sz="2500">
                <a:latin typeface="Arial"/>
                <a:ea typeface="Arial"/>
                <a:cs typeface="Arial"/>
                <a:sym typeface="Arial"/>
              </a:rPr>
              <a:t>DevSecOps tooling, including secrets, SAST, 3rd party dependencies, “code smells", and licensing, Also could be others too, like DAST.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AutoNum type="arabicPeriod"/>
            </a:pPr>
            <a:r>
              <a:rPr lang="en-US" sz="2500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Appoint a "Pilot": No AI code goes live without a human "Pilot-in-Command" who can explain the logic to an auditor.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AutoNum type="arabicPeriod"/>
            </a:pPr>
            <a:r>
              <a:rPr lang="en-US" sz="2500">
                <a:latin typeface="Arial"/>
                <a:ea typeface="Arial"/>
                <a:cs typeface="Arial"/>
                <a:sym typeface="Arial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3"/>
                  </a:ext>
                </a:extLst>
              </a:rPr>
              <a:t>Audit the Shadow: Run a discovery scan of your internal network to see how many "Vibe Apps" your departments have built without your knowledge. 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</a:pPr>
            <a:endParaRPr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cd87346bc_0_36"/>
          <p:cNvSpPr txBox="1"/>
          <p:nvPr/>
        </p:nvSpPr>
        <p:spPr>
          <a:xfrm>
            <a:off x="900575" y="600300"/>
            <a:ext cx="5103000" cy="5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Prepare: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Make a design doc (with AI!).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Use techniques like </a:t>
            </a:r>
            <a:r>
              <a:rPr lang="en-US" sz="18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agent.md</a:t>
            </a: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and modelfile to specify standards, like “write code like a senior security engineer”.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Ensure simple and clear security instructions are included in prompts and setup files.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If saving $: use expensive, thoughtful models to build plans, use cheaper models to create code.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Have a different model review output than the one that wrote it (Adversarial prompting).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Ensure a &lt;person/pilot/architect&gt; compare intended logic to actually implemented code.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endParaRPr sz="1300" b="1">
              <a:solidFill>
                <a:schemeClr val="lt1"/>
              </a:solidFill>
            </a:endParaRPr>
          </a:p>
        </p:txBody>
      </p:sp>
      <p:sp>
        <p:nvSpPr>
          <p:cNvPr id="421" name="Google Shape;421;g3dcd87346bc_0_36"/>
          <p:cNvSpPr txBox="1"/>
          <p:nvPr/>
        </p:nvSpPr>
        <p:spPr>
          <a:xfrm>
            <a:off x="6875325" y="600300"/>
            <a:ext cx="4623900" cy="56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Control: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Implement DevSecOps - it’s more important than ever.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Ensure you implement automated log collection and metric gathering and have AI build correlations.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Intentionally pay down AI-created technical debt.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Scan and version SBOMs. Look for unexpected changes, critical vulnerabilities, and compromised packages.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Figure out AI learning and improvement mechanisms based on performance and feedback.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1104</Words>
  <Application>Microsoft Office PowerPoint</Application>
  <PresentationFormat>Widescreen</PresentationFormat>
  <Paragraphs>116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Poppins</vt:lpstr>
      <vt:lpstr>Barlow Medium</vt:lpstr>
      <vt:lpstr>Arial</vt:lpstr>
      <vt:lpstr>Barlow SemiBold</vt:lpstr>
      <vt:lpstr>Roboto</vt:lpstr>
      <vt:lpstr>Calibri</vt:lpstr>
      <vt:lpstr>Office Theme</vt:lpstr>
      <vt:lpstr>PowerPoint Presentation</vt:lpstr>
      <vt:lpstr>PowerPoint Presentation</vt:lpstr>
      <vt:lpstr>What is vibe coding?</vt:lpstr>
      <vt:lpstr>Where the Risk lies - 3 Risk Pillars</vt:lpstr>
      <vt:lpstr>Questions to ask your team</vt:lpstr>
      <vt:lpstr>Questions to ask your team</vt:lpstr>
      <vt:lpstr>The "70/20/10" Budgeting Model</vt:lpstr>
      <vt:lpstr>PowerPoint Presentation</vt:lpstr>
      <vt:lpstr>The Tools (Smoke Detectors)</vt:lpstr>
      <vt:lpstr>Questions to ask your team</vt:lpstr>
      <vt:lpstr>Questions to ask your team</vt:lpstr>
      <vt:lpstr>PowerPoint Presentation</vt:lpstr>
      <vt:lpstr>Vibe Security - Requirements &amp; Planning</vt:lpstr>
      <vt:lpstr>Vibe Security - Deployment &amp; Operations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Andrew van der Stock</dc:creator>
  <cp:lastModifiedBy>Nathaniel Engelsen</cp:lastModifiedBy>
  <cp:revision>13</cp:revision>
  <dcterms:created xsi:type="dcterms:W3CDTF">2024-08-22T16:50:02Z</dcterms:created>
  <dcterms:modified xsi:type="dcterms:W3CDTF">2026-04-10T02:53:12Z</dcterms:modified>
</cp:coreProperties>
</file>